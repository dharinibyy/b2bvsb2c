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2" r:id="rId3"/>
    <p:sldId id="259" r:id="rId4"/>
    <p:sldId id="264" r:id="rId5"/>
    <p:sldId id="265" r:id="rId6"/>
    <p:sldId id="258" r:id="rId7"/>
    <p:sldId id="263" r:id="rId8"/>
    <p:sldId id="260" r:id="rId9"/>
    <p:sldId id="26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05C13A-94C9-4197-B07E-C44B7DA13A75}" v="1" dt="2026-01-18T19:10:03.5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80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arini B" userId="0ae65a530896a3a5" providerId="LiveId" clId="{B1AA6F00-388D-4EB3-965C-C134A22C3EF5}"/>
    <pc:docChg chg="undo custSel modSld">
      <pc:chgData name="Dharini B" userId="0ae65a530896a3a5" providerId="LiveId" clId="{B1AA6F00-388D-4EB3-965C-C134A22C3EF5}" dt="2026-01-18T19:16:50.103" v="473" actId="20577"/>
      <pc:docMkLst>
        <pc:docMk/>
      </pc:docMkLst>
      <pc:sldChg chg="modSp mod">
        <pc:chgData name="Dharini B" userId="0ae65a530896a3a5" providerId="LiveId" clId="{B1AA6F00-388D-4EB3-965C-C134A22C3EF5}" dt="2026-01-18T19:16:50.103" v="473" actId="20577"/>
        <pc:sldMkLst>
          <pc:docMk/>
          <pc:sldMk cId="4020330372" sldId="260"/>
        </pc:sldMkLst>
        <pc:spChg chg="mod">
          <ac:chgData name="Dharini B" userId="0ae65a530896a3a5" providerId="LiveId" clId="{B1AA6F00-388D-4EB3-965C-C134A22C3EF5}" dt="2026-01-18T19:16:50.103" v="473" actId="20577"/>
          <ac:spMkLst>
            <pc:docMk/>
            <pc:sldMk cId="4020330372" sldId="260"/>
            <ac:spMk id="2" creationId="{51EE8751-DD8F-7162-E95E-D0F2C427E717}"/>
          </ac:spMkLst>
        </pc:spChg>
        <pc:spChg chg="mod">
          <ac:chgData name="Dharini B" userId="0ae65a530896a3a5" providerId="LiveId" clId="{B1AA6F00-388D-4EB3-965C-C134A22C3EF5}" dt="2026-01-18T19:14:54.312" v="189" actId="207"/>
          <ac:spMkLst>
            <pc:docMk/>
            <pc:sldMk cId="4020330372" sldId="260"/>
            <ac:spMk id="42" creationId="{5B69C6A3-38DD-89C9-9F47-CD4FCC98A1CD}"/>
          </ac:spMkLst>
        </pc:spChg>
      </pc:sldChg>
      <pc:sldChg chg="modSp mod">
        <pc:chgData name="Dharini B" userId="0ae65a530896a3a5" providerId="LiveId" clId="{B1AA6F00-388D-4EB3-965C-C134A22C3EF5}" dt="2026-01-18T19:15:58.203" v="283" actId="20577"/>
        <pc:sldMkLst>
          <pc:docMk/>
          <pc:sldMk cId="3811499666" sldId="262"/>
        </pc:sldMkLst>
        <pc:spChg chg="mod">
          <ac:chgData name="Dharini B" userId="0ae65a530896a3a5" providerId="LiveId" clId="{B1AA6F00-388D-4EB3-965C-C134A22C3EF5}" dt="2026-01-18T19:15:58.203" v="283" actId="20577"/>
          <ac:spMkLst>
            <pc:docMk/>
            <pc:sldMk cId="3811499666" sldId="262"/>
            <ac:spMk id="3" creationId="{3A6CF0FC-E582-41AA-92AB-77B2F4B74A4C}"/>
          </ac:spMkLst>
        </pc:spChg>
      </pc:sldChg>
      <pc:sldChg chg="addSp delSp modSp mod">
        <pc:chgData name="Dharini B" userId="0ae65a530896a3a5" providerId="LiveId" clId="{B1AA6F00-388D-4EB3-965C-C134A22C3EF5}" dt="2026-01-18T19:10:19.490" v="6" actId="1076"/>
        <pc:sldMkLst>
          <pc:docMk/>
          <pc:sldMk cId="3671503370" sldId="264"/>
        </pc:sldMkLst>
        <pc:picChg chg="add mod">
          <ac:chgData name="Dharini B" userId="0ae65a530896a3a5" providerId="LiveId" clId="{B1AA6F00-388D-4EB3-965C-C134A22C3EF5}" dt="2026-01-18T19:10:16.612" v="5" actId="1076"/>
          <ac:picMkLst>
            <pc:docMk/>
            <pc:sldMk cId="3671503370" sldId="264"/>
            <ac:picMk id="3" creationId="{E87A4836-8EE6-E3FF-4B11-53E751787557}"/>
          </ac:picMkLst>
        </pc:picChg>
        <pc:picChg chg="mod">
          <ac:chgData name="Dharini B" userId="0ae65a530896a3a5" providerId="LiveId" clId="{B1AA6F00-388D-4EB3-965C-C134A22C3EF5}" dt="2026-01-18T19:10:19.490" v="6" actId="1076"/>
          <ac:picMkLst>
            <pc:docMk/>
            <pc:sldMk cId="3671503370" sldId="264"/>
            <ac:picMk id="8" creationId="{9F10794B-C36C-437E-975C-A7A0CAA230A3}"/>
          </ac:picMkLst>
        </pc:picChg>
        <pc:picChg chg="del">
          <ac:chgData name="Dharini B" userId="0ae65a530896a3a5" providerId="LiveId" clId="{B1AA6F00-388D-4EB3-965C-C134A22C3EF5}" dt="2026-01-18T19:10:08.169" v="1" actId="478"/>
          <ac:picMkLst>
            <pc:docMk/>
            <pc:sldMk cId="3671503370" sldId="264"/>
            <ac:picMk id="15" creationId="{5B5232D7-F2FA-A561-1317-CFBB25CBF719}"/>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1/18/2026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slow">
    <p:wip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6BD9C83-7D6B-6424-C225-E3F873037566}"/>
              </a:ext>
            </a:extLst>
          </p:cNvPr>
          <p:cNvSpPr txBox="1"/>
          <p:nvPr/>
        </p:nvSpPr>
        <p:spPr>
          <a:xfrm>
            <a:off x="-9294" y="1291"/>
            <a:ext cx="5972099" cy="6859549"/>
          </a:xfrm>
          <a:prstGeom prst="rect">
            <a:avLst/>
          </a:prstGeom>
          <a:solidFill>
            <a:schemeClr val="accent1">
              <a:lumMod val="40000"/>
              <a:lumOff val="60000"/>
            </a:schemeClr>
          </a:solidFill>
          <a:ln>
            <a:solidFill>
              <a:schemeClr val="accent6">
                <a:lumMod val="40000"/>
                <a:lumOff val="6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7" name="TextBox 6">
            <a:extLst>
              <a:ext uri="{FF2B5EF4-FFF2-40B4-BE49-F238E27FC236}">
                <a16:creationId xmlns:a16="http://schemas.microsoft.com/office/drawing/2014/main" id="{78EF201A-F9DE-8D8C-6FF8-178974E5AAB2}"/>
              </a:ext>
            </a:extLst>
          </p:cNvPr>
          <p:cNvSpPr txBox="1"/>
          <p:nvPr/>
        </p:nvSpPr>
        <p:spPr>
          <a:xfrm>
            <a:off x="5965902" y="1290"/>
            <a:ext cx="6390268" cy="6859549"/>
          </a:xfrm>
          <a:prstGeom prst="rect">
            <a:avLst/>
          </a:prstGeom>
          <a:solidFill>
            <a:schemeClr val="accent3">
              <a:lumMod val="40000"/>
              <a:lumOff val="60000"/>
            </a:schemeClr>
          </a:solidFill>
          <a:ln>
            <a:solidFill>
              <a:schemeClr val="accent1">
                <a:lumMod val="40000"/>
                <a:lumOff val="6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2" name="TextBox 11">
            <a:extLst>
              <a:ext uri="{FF2B5EF4-FFF2-40B4-BE49-F238E27FC236}">
                <a16:creationId xmlns:a16="http://schemas.microsoft.com/office/drawing/2014/main" id="{EFB4525A-B417-7FB8-82C2-0B731AB36587}"/>
              </a:ext>
            </a:extLst>
          </p:cNvPr>
          <p:cNvSpPr txBox="1"/>
          <p:nvPr/>
        </p:nvSpPr>
        <p:spPr>
          <a:xfrm>
            <a:off x="3180937" y="943208"/>
            <a:ext cx="2024773" cy="13019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7800">
                <a:latin typeface="Aptos"/>
                <a:ea typeface="Calibri"/>
                <a:cs typeface="Calibri"/>
              </a:rPr>
              <a:t>B2B</a:t>
            </a:r>
            <a:endParaRPr lang="en-US">
              <a:latin typeface="Aptos"/>
              <a:ea typeface="Calibri"/>
              <a:cs typeface="Calibri"/>
            </a:endParaRPr>
          </a:p>
        </p:txBody>
      </p:sp>
      <p:sp>
        <p:nvSpPr>
          <p:cNvPr id="13" name="TextBox 12">
            <a:extLst>
              <a:ext uri="{FF2B5EF4-FFF2-40B4-BE49-F238E27FC236}">
                <a16:creationId xmlns:a16="http://schemas.microsoft.com/office/drawing/2014/main" id="{5CDF732D-1B26-9639-4E8C-A9DE2B697AAE}"/>
              </a:ext>
            </a:extLst>
          </p:cNvPr>
          <p:cNvSpPr txBox="1"/>
          <p:nvPr/>
        </p:nvSpPr>
        <p:spPr>
          <a:xfrm>
            <a:off x="5605553" y="1463082"/>
            <a:ext cx="133479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600" dirty="0"/>
              <a:t>VS.</a:t>
            </a:r>
          </a:p>
          <a:p>
            <a:endParaRPr lang="en-US" sz="3600" dirty="0"/>
          </a:p>
          <a:p>
            <a:endParaRPr lang="en-US" sz="3600" dirty="0"/>
          </a:p>
        </p:txBody>
      </p:sp>
      <p:sp>
        <p:nvSpPr>
          <p:cNvPr id="14" name="TextBox 13">
            <a:extLst>
              <a:ext uri="{FF2B5EF4-FFF2-40B4-BE49-F238E27FC236}">
                <a16:creationId xmlns:a16="http://schemas.microsoft.com/office/drawing/2014/main" id="{3777F230-3D92-E96C-F7B9-839DA853EA04}"/>
              </a:ext>
            </a:extLst>
          </p:cNvPr>
          <p:cNvSpPr txBox="1"/>
          <p:nvPr/>
        </p:nvSpPr>
        <p:spPr>
          <a:xfrm>
            <a:off x="6842254" y="943208"/>
            <a:ext cx="2024773" cy="13019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7800"/>
              <a:t>B2C</a:t>
            </a:r>
            <a:endParaRPr lang="en-US"/>
          </a:p>
        </p:txBody>
      </p:sp>
      <p:pic>
        <p:nvPicPr>
          <p:cNvPr id="15" name="Picture 14">
            <a:extLst>
              <a:ext uri="{FF2B5EF4-FFF2-40B4-BE49-F238E27FC236}">
                <a16:creationId xmlns:a16="http://schemas.microsoft.com/office/drawing/2014/main" id="{8E9AC550-7DB7-3A5D-7DDF-2EF244908B80}"/>
              </a:ext>
            </a:extLst>
          </p:cNvPr>
          <p:cNvPicPr>
            <a:picLocks noChangeAspect="1"/>
          </p:cNvPicPr>
          <p:nvPr/>
        </p:nvPicPr>
        <p:blipFill>
          <a:blip r:embed="rId2"/>
          <a:stretch>
            <a:fillRect/>
          </a:stretch>
        </p:blipFill>
        <p:spPr>
          <a:xfrm>
            <a:off x="604721" y="1459648"/>
            <a:ext cx="4514850" cy="4514850"/>
          </a:xfrm>
          <a:prstGeom prst="rect">
            <a:avLst/>
          </a:prstGeom>
        </p:spPr>
      </p:pic>
      <p:pic>
        <p:nvPicPr>
          <p:cNvPr id="16" name="Picture 15" descr="A person and person with arrows and words&#10;&#10;AI-generated content may be incorrect.">
            <a:extLst>
              <a:ext uri="{FF2B5EF4-FFF2-40B4-BE49-F238E27FC236}">
                <a16:creationId xmlns:a16="http://schemas.microsoft.com/office/drawing/2014/main" id="{77B2B1BC-C144-9EDF-D390-C789B4904121}"/>
              </a:ext>
            </a:extLst>
          </p:cNvPr>
          <p:cNvPicPr>
            <a:picLocks noChangeAspect="1"/>
          </p:cNvPicPr>
          <p:nvPr/>
        </p:nvPicPr>
        <p:blipFill>
          <a:blip r:embed="rId3"/>
          <a:stretch>
            <a:fillRect/>
          </a:stretch>
        </p:blipFill>
        <p:spPr>
          <a:xfrm>
            <a:off x="7853363" y="1929626"/>
            <a:ext cx="3343275" cy="4076700"/>
          </a:xfrm>
          <a:prstGeom prst="rect">
            <a:avLst/>
          </a:prstGeom>
        </p:spPr>
      </p:pic>
      <p:sp>
        <p:nvSpPr>
          <p:cNvPr id="2" name="TextBox 1">
            <a:extLst>
              <a:ext uri="{FF2B5EF4-FFF2-40B4-BE49-F238E27FC236}">
                <a16:creationId xmlns:a16="http://schemas.microsoft.com/office/drawing/2014/main" id="{80EEDAE0-3742-FF83-E5A6-4B1B81FDF0ED}"/>
              </a:ext>
            </a:extLst>
          </p:cNvPr>
          <p:cNvSpPr txBox="1"/>
          <p:nvPr/>
        </p:nvSpPr>
        <p:spPr>
          <a:xfrm>
            <a:off x="3948697" y="5650952"/>
            <a:ext cx="403354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dirty="0"/>
              <a:t>Dharini &amp; Akanksha</a:t>
            </a:r>
            <a:endParaRPr lang="en-US" dirty="0"/>
          </a:p>
        </p:txBody>
      </p:sp>
      <p:sp>
        <p:nvSpPr>
          <p:cNvPr id="3" name="TextBox 2">
            <a:extLst>
              <a:ext uri="{FF2B5EF4-FFF2-40B4-BE49-F238E27FC236}">
                <a16:creationId xmlns:a16="http://schemas.microsoft.com/office/drawing/2014/main" id="{7C9A3DC1-5693-52DD-EBC5-9CF8BDC5B10F}"/>
              </a:ext>
            </a:extLst>
          </p:cNvPr>
          <p:cNvSpPr txBox="1"/>
          <p:nvPr/>
        </p:nvSpPr>
        <p:spPr>
          <a:xfrm>
            <a:off x="4040246" y="2338079"/>
            <a:ext cx="410602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a:solidFill>
                  <a:srgbClr val="1F1F1F"/>
                </a:solidFill>
                <a:latin typeface="Aptos"/>
                <a:ea typeface="Google Sans"/>
                <a:cs typeface="Google Sans"/>
              </a:rPr>
              <a:t>The Battle for Seattle’s Soul</a:t>
            </a:r>
            <a:r>
              <a:rPr lang="en-US" b="1"/>
              <a:t> </a:t>
            </a:r>
          </a:p>
          <a:p>
            <a:pPr algn="ctr"/>
            <a:endParaRPr lang="en-US"/>
          </a:p>
        </p:txBody>
      </p:sp>
    </p:spTree>
    <p:extLst>
      <p:ext uri="{BB962C8B-B14F-4D97-AF65-F5344CB8AC3E}">
        <p14:creationId xmlns:p14="http://schemas.microsoft.com/office/powerpoint/2010/main" val="109857222"/>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8A56C-8AD5-1819-EF6E-7EAC657FB629}"/>
              </a:ext>
            </a:extLst>
          </p:cNvPr>
          <p:cNvSpPr>
            <a:spLocks noGrp="1"/>
          </p:cNvSpPr>
          <p:nvPr>
            <p:ph type="title"/>
          </p:nvPr>
        </p:nvSpPr>
        <p:spPr/>
        <p:txBody>
          <a:bodyPr/>
          <a:lstStyle/>
          <a:p>
            <a:pPr algn="ctr"/>
            <a:r>
              <a:rPr lang="en-US"/>
              <a:t>Cascadia Ventures</a:t>
            </a:r>
          </a:p>
        </p:txBody>
      </p:sp>
      <p:sp>
        <p:nvSpPr>
          <p:cNvPr id="3" name="Content Placeholder 2">
            <a:extLst>
              <a:ext uri="{FF2B5EF4-FFF2-40B4-BE49-F238E27FC236}">
                <a16:creationId xmlns:a16="http://schemas.microsoft.com/office/drawing/2014/main" id="{3A6CF0FC-E582-41AA-92AB-77B2F4B74A4C}"/>
              </a:ext>
            </a:extLst>
          </p:cNvPr>
          <p:cNvSpPr>
            <a:spLocks noGrp="1"/>
          </p:cNvSpPr>
          <p:nvPr>
            <p:ph idx="1"/>
          </p:nvPr>
        </p:nvSpPr>
        <p:spPr/>
        <p:txBody>
          <a:bodyPr vert="horz" lIns="91440" tIns="45720" rIns="91440" bIns="45720" rtlCol="0" anchor="t">
            <a:normAutofit fontScale="92500" lnSpcReduction="10000"/>
          </a:bodyPr>
          <a:lstStyle/>
          <a:p>
            <a:pPr marL="0" indent="0" algn="ctr">
              <a:buNone/>
            </a:pPr>
            <a:r>
              <a:rPr lang="en-US" dirty="0"/>
              <a:t>We are interns at Cascadia Ventures!</a:t>
            </a:r>
          </a:p>
          <a:p>
            <a:pPr marL="0" indent="0" algn="ctr">
              <a:buNone/>
            </a:pPr>
            <a:endParaRPr lang="en-US" dirty="0"/>
          </a:p>
          <a:p>
            <a:pPr marL="0" indent="0" algn="ctr">
              <a:buNone/>
            </a:pPr>
            <a:r>
              <a:rPr lang="en-US" dirty="0"/>
              <a:t>On of our senior partners believes Seattle's economy is changing, He wants to pivot the entire $500 million budget to B2C companies!</a:t>
            </a:r>
          </a:p>
          <a:p>
            <a:pPr marL="0" indent="0" algn="ctr">
              <a:buNone/>
            </a:pPr>
            <a:endParaRPr lang="en-US" dirty="0"/>
          </a:p>
          <a:p>
            <a:pPr marL="0" indent="0" algn="ctr">
              <a:buNone/>
            </a:pPr>
            <a:r>
              <a:rPr lang="en-US" dirty="0"/>
              <a:t>Our boss, Sarah disagrees. She thinks Seattle's DNA is B2B and they "hype" around consumer apps is just a distraction. </a:t>
            </a:r>
          </a:p>
          <a:p>
            <a:pPr marL="0" indent="0" algn="ctr">
              <a:buNone/>
            </a:pPr>
            <a:endParaRPr lang="en-US" dirty="0"/>
          </a:p>
          <a:p>
            <a:pPr marL="0" indent="0" algn="ctr">
              <a:buNone/>
            </a:pPr>
            <a:r>
              <a:rPr lang="en-US" b="1" dirty="0"/>
              <a:t>Our mission is to dig into data, find statistics and discover the truth. Is Seattle really changing into a B2B economy or staying B2C?</a:t>
            </a:r>
          </a:p>
        </p:txBody>
      </p:sp>
    </p:spTree>
    <p:extLst>
      <p:ext uri="{BB962C8B-B14F-4D97-AF65-F5344CB8AC3E}">
        <p14:creationId xmlns:p14="http://schemas.microsoft.com/office/powerpoint/2010/main" val="3811499666"/>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2ACD5-7995-EC90-A735-188B08AA62A1}"/>
              </a:ext>
            </a:extLst>
          </p:cNvPr>
          <p:cNvSpPr>
            <a:spLocks noGrp="1"/>
          </p:cNvSpPr>
          <p:nvPr>
            <p:ph type="title"/>
          </p:nvPr>
        </p:nvSpPr>
        <p:spPr>
          <a:xfrm>
            <a:off x="838200" y="-92075"/>
            <a:ext cx="10515600" cy="1325563"/>
          </a:xfrm>
        </p:spPr>
        <p:txBody>
          <a:bodyPr/>
          <a:lstStyle/>
          <a:p>
            <a:pPr algn="ctr"/>
            <a:r>
              <a:rPr lang="en-US" dirty="0"/>
              <a:t>The Data Reality</a:t>
            </a:r>
          </a:p>
        </p:txBody>
      </p:sp>
      <p:sp>
        <p:nvSpPr>
          <p:cNvPr id="3" name="Content Placeholder 2">
            <a:extLst>
              <a:ext uri="{FF2B5EF4-FFF2-40B4-BE49-F238E27FC236}">
                <a16:creationId xmlns:a16="http://schemas.microsoft.com/office/drawing/2014/main" id="{2A817807-F1A1-00AF-3F8A-A29D2A7864BC}"/>
              </a:ext>
            </a:extLst>
          </p:cNvPr>
          <p:cNvSpPr>
            <a:spLocks noGrp="1"/>
          </p:cNvSpPr>
          <p:nvPr>
            <p:ph idx="1"/>
          </p:nvPr>
        </p:nvSpPr>
        <p:spPr>
          <a:xfrm>
            <a:off x="4912360" y="758825"/>
            <a:ext cx="2001520" cy="470218"/>
          </a:xfrm>
        </p:spPr>
        <p:txBody>
          <a:bodyPr vert="horz" lIns="91440" tIns="45720" rIns="91440" bIns="45720" rtlCol="0" anchor="t">
            <a:normAutofit fontScale="92500"/>
          </a:bodyPr>
          <a:lstStyle/>
          <a:p>
            <a:pPr marL="0" indent="0">
              <a:buNone/>
            </a:pPr>
            <a:r>
              <a:rPr lang="en-US"/>
              <a:t>Our sources</a:t>
            </a:r>
          </a:p>
        </p:txBody>
      </p:sp>
      <p:sp>
        <p:nvSpPr>
          <p:cNvPr id="5" name="TextBox 4">
            <a:extLst>
              <a:ext uri="{FF2B5EF4-FFF2-40B4-BE49-F238E27FC236}">
                <a16:creationId xmlns:a16="http://schemas.microsoft.com/office/drawing/2014/main" id="{F58F36EE-CEE3-6E2F-8DB8-2E260B45D608}"/>
              </a:ext>
            </a:extLst>
          </p:cNvPr>
          <p:cNvSpPr txBox="1"/>
          <p:nvPr/>
        </p:nvSpPr>
        <p:spPr>
          <a:xfrm>
            <a:off x="822960" y="1584960"/>
            <a:ext cx="4196080" cy="4524315"/>
          </a:xfrm>
          <a:prstGeom prst="rect">
            <a:avLst/>
          </a:prstGeom>
          <a:solidFill>
            <a:schemeClr val="accent1">
              <a:lumMod val="40000"/>
              <a:lumOff val="6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t>Dataset A – The Investments Records (Crunchbase via Kaggle)</a:t>
            </a:r>
          </a:p>
          <a:p>
            <a:pPr algn="ctr"/>
            <a:endParaRPr lang="en-US" b="1" dirty="0"/>
          </a:p>
          <a:p>
            <a:pPr algn="ctr"/>
            <a:r>
              <a:rPr lang="en-US" b="1" dirty="0"/>
              <a:t>WHY IS OUR DATA CREDIBLE?</a:t>
            </a:r>
          </a:p>
          <a:p>
            <a:pPr algn="ctr"/>
            <a:endParaRPr lang="en-US" b="1" dirty="0"/>
          </a:p>
          <a:p>
            <a:pPr marL="285750" indent="-285750" algn="ctr">
              <a:buFont typeface="Calibri"/>
              <a:buChar char="-"/>
            </a:pPr>
            <a:r>
              <a:rPr lang="en-US" dirty="0"/>
              <a:t> Our data is from </a:t>
            </a:r>
            <a:r>
              <a:rPr lang="en-US" b="1" dirty="0"/>
              <a:t>Crunchbase</a:t>
            </a:r>
            <a:r>
              <a:rPr lang="en-US" dirty="0"/>
              <a:t> </a:t>
            </a:r>
          </a:p>
          <a:p>
            <a:pPr marL="285750" indent="-285750" algn="ctr">
              <a:buFont typeface="Calibri"/>
              <a:buChar char="-"/>
            </a:pPr>
            <a:endParaRPr lang="en-US" dirty="0"/>
          </a:p>
          <a:p>
            <a:pPr marL="285750" indent="-285750" algn="ctr">
              <a:buFont typeface="Calibri"/>
              <a:buChar char="-"/>
            </a:pPr>
            <a:r>
              <a:rPr lang="en-US" dirty="0"/>
              <a:t>An online database and research program that provides information about companies, startups, and  funding activity.</a:t>
            </a:r>
          </a:p>
          <a:p>
            <a:pPr marL="285750" indent="-285750" algn="ctr">
              <a:buFont typeface="Calibri"/>
              <a:buChar char="-"/>
            </a:pPr>
            <a:endParaRPr lang="en-US" dirty="0"/>
          </a:p>
          <a:p>
            <a:pPr algn="ctr"/>
            <a:endParaRPr lang="en-US" dirty="0"/>
          </a:p>
          <a:p>
            <a:pPr algn="ctr"/>
            <a:endParaRPr lang="en-US" dirty="0"/>
          </a:p>
          <a:p>
            <a:pPr algn="ctr"/>
            <a:endParaRPr lang="en-US" dirty="0"/>
          </a:p>
        </p:txBody>
      </p:sp>
      <p:sp>
        <p:nvSpPr>
          <p:cNvPr id="6" name="TextBox 5">
            <a:extLst>
              <a:ext uri="{FF2B5EF4-FFF2-40B4-BE49-F238E27FC236}">
                <a16:creationId xmlns:a16="http://schemas.microsoft.com/office/drawing/2014/main" id="{4AF500F4-17D6-8243-62AA-2738350F0ACF}"/>
              </a:ext>
            </a:extLst>
          </p:cNvPr>
          <p:cNvSpPr txBox="1"/>
          <p:nvPr/>
        </p:nvSpPr>
        <p:spPr>
          <a:xfrm>
            <a:off x="6929119" y="1584959"/>
            <a:ext cx="4419600" cy="4524315"/>
          </a:xfrm>
          <a:prstGeom prst="rect">
            <a:avLst/>
          </a:prstGeom>
          <a:solidFill>
            <a:schemeClr val="accent3">
              <a:lumMod val="40000"/>
              <a:lumOff val="6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t>Dataset B -  The Global Ecosystem Rankings (Startup Blink via Kaggle)</a:t>
            </a:r>
          </a:p>
          <a:p>
            <a:pPr algn="ctr"/>
            <a:endParaRPr lang="en-US" b="1"/>
          </a:p>
          <a:p>
            <a:pPr algn="ctr"/>
            <a:r>
              <a:rPr lang="en-US" b="1"/>
              <a:t>WHY IS OUR DATA CREDIBLE?</a:t>
            </a:r>
          </a:p>
          <a:p>
            <a:pPr algn="ctr"/>
            <a:endParaRPr lang="en-US" b="1"/>
          </a:p>
          <a:p>
            <a:pPr algn="ctr"/>
            <a:r>
              <a:rPr lang="en-US"/>
              <a:t> - Our data is from </a:t>
            </a:r>
            <a:r>
              <a:rPr lang="en-US" b="1"/>
              <a:t>Startup Blink</a:t>
            </a:r>
            <a:r>
              <a:rPr lang="en-US"/>
              <a:t> </a:t>
            </a:r>
          </a:p>
          <a:p>
            <a:pPr algn="ctr"/>
            <a:endParaRPr lang="en-US"/>
          </a:p>
          <a:p>
            <a:pPr marL="285750" indent="-285750" algn="ctr">
              <a:buFont typeface="Calibri"/>
              <a:buChar char="-"/>
            </a:pPr>
            <a:r>
              <a:rPr lang="en-US"/>
              <a:t>A global startup ecosystem research and mapping platform that helps, people, governments and companies understand how startup communities work around the world.</a:t>
            </a:r>
          </a:p>
          <a:p>
            <a:pPr algn="ctr"/>
            <a:endParaRPr lang="en-US"/>
          </a:p>
          <a:p>
            <a:pPr algn="ctr"/>
            <a:endParaRPr lang="en-US"/>
          </a:p>
          <a:p>
            <a:pPr algn="ctr"/>
            <a:endParaRPr lang="en-US"/>
          </a:p>
          <a:p>
            <a:pPr algn="ctr"/>
            <a:endParaRPr lang="en-US"/>
          </a:p>
        </p:txBody>
      </p:sp>
    </p:spTree>
    <p:extLst>
      <p:ext uri="{BB962C8B-B14F-4D97-AF65-F5344CB8AC3E}">
        <p14:creationId xmlns:p14="http://schemas.microsoft.com/office/powerpoint/2010/main" val="3254902879"/>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a:extLst>
            <a:ext uri="{FF2B5EF4-FFF2-40B4-BE49-F238E27FC236}">
              <a16:creationId xmlns:a16="http://schemas.microsoft.com/office/drawing/2014/main" id="{8826481A-19C9-3DA3-B895-502E2073DBC2}"/>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9F10794B-C36C-437E-975C-A7A0CAA230A3}"/>
              </a:ext>
            </a:extLst>
          </p:cNvPr>
          <p:cNvPicPr>
            <a:picLocks noChangeAspect="1"/>
          </p:cNvPicPr>
          <p:nvPr/>
        </p:nvPicPr>
        <p:blipFill>
          <a:blip r:embed="rId2"/>
          <a:stretch>
            <a:fillRect/>
          </a:stretch>
        </p:blipFill>
        <p:spPr>
          <a:xfrm>
            <a:off x="0" y="1505158"/>
            <a:ext cx="12192000" cy="2120769"/>
          </a:xfrm>
          <a:prstGeom prst="rect">
            <a:avLst/>
          </a:prstGeom>
        </p:spPr>
      </p:pic>
      <p:pic>
        <p:nvPicPr>
          <p:cNvPr id="10" name="Picture 9">
            <a:extLst>
              <a:ext uri="{FF2B5EF4-FFF2-40B4-BE49-F238E27FC236}">
                <a16:creationId xmlns:a16="http://schemas.microsoft.com/office/drawing/2014/main" id="{35B48091-E3DE-C980-E177-2BF3CA38321A}"/>
              </a:ext>
            </a:extLst>
          </p:cNvPr>
          <p:cNvPicPr>
            <a:picLocks noChangeAspect="1"/>
          </p:cNvPicPr>
          <p:nvPr/>
        </p:nvPicPr>
        <p:blipFill>
          <a:blip r:embed="rId3"/>
          <a:stretch>
            <a:fillRect/>
          </a:stretch>
        </p:blipFill>
        <p:spPr>
          <a:xfrm>
            <a:off x="0" y="4773991"/>
            <a:ext cx="12192000" cy="1644082"/>
          </a:xfrm>
          <a:prstGeom prst="rect">
            <a:avLst/>
          </a:prstGeom>
        </p:spPr>
      </p:pic>
      <p:sp>
        <p:nvSpPr>
          <p:cNvPr id="11" name="Title 1">
            <a:extLst>
              <a:ext uri="{FF2B5EF4-FFF2-40B4-BE49-F238E27FC236}">
                <a16:creationId xmlns:a16="http://schemas.microsoft.com/office/drawing/2014/main" id="{892ED80D-9646-DBEB-CFAA-1704FAB3FA58}"/>
              </a:ext>
            </a:extLst>
          </p:cNvPr>
          <p:cNvSpPr>
            <a:spLocks noGrp="1"/>
          </p:cNvSpPr>
          <p:nvPr>
            <p:ph type="title"/>
          </p:nvPr>
        </p:nvSpPr>
        <p:spPr>
          <a:xfrm>
            <a:off x="838200" y="-92075"/>
            <a:ext cx="10515600" cy="1325563"/>
          </a:xfrm>
        </p:spPr>
        <p:txBody>
          <a:bodyPr/>
          <a:lstStyle/>
          <a:p>
            <a:pPr algn="ctr"/>
            <a:r>
              <a:rPr lang="en-US" dirty="0"/>
              <a:t>Cleaning!</a:t>
            </a:r>
          </a:p>
        </p:txBody>
      </p:sp>
      <p:pic>
        <p:nvPicPr>
          <p:cNvPr id="13" name="Graphic 12" descr="Thumbs Down outline">
            <a:extLst>
              <a:ext uri="{FF2B5EF4-FFF2-40B4-BE49-F238E27FC236}">
                <a16:creationId xmlns:a16="http://schemas.microsoft.com/office/drawing/2014/main" id="{0659AFB9-510C-EEF0-665C-7553492ADEF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2400" y="422983"/>
            <a:ext cx="914400" cy="914400"/>
          </a:xfrm>
          <a:prstGeom prst="rect">
            <a:avLst/>
          </a:prstGeom>
        </p:spPr>
      </p:pic>
      <p:pic>
        <p:nvPicPr>
          <p:cNvPr id="3" name="Graphic 2" descr="Thumbs up sign outline">
            <a:extLst>
              <a:ext uri="{FF2B5EF4-FFF2-40B4-BE49-F238E27FC236}">
                <a16:creationId xmlns:a16="http://schemas.microsoft.com/office/drawing/2014/main" id="{E87A4836-8EE6-E3FF-4B11-53E75178755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125200" y="3822322"/>
            <a:ext cx="914400" cy="914400"/>
          </a:xfrm>
          <a:prstGeom prst="rect">
            <a:avLst/>
          </a:prstGeom>
        </p:spPr>
      </p:pic>
    </p:spTree>
    <p:extLst>
      <p:ext uri="{BB962C8B-B14F-4D97-AF65-F5344CB8AC3E}">
        <p14:creationId xmlns:p14="http://schemas.microsoft.com/office/powerpoint/2010/main" val="3671503370"/>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a:extLst>
            <a:ext uri="{FF2B5EF4-FFF2-40B4-BE49-F238E27FC236}">
              <a16:creationId xmlns:a16="http://schemas.microsoft.com/office/drawing/2014/main" id="{DF9626AB-C43A-08D5-F4DB-51A2560C4CB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CAC7308-529A-E4DD-8958-7B9C40F4D84D}"/>
              </a:ext>
            </a:extLst>
          </p:cNvPr>
          <p:cNvPicPr>
            <a:picLocks noChangeAspect="1"/>
          </p:cNvPicPr>
          <p:nvPr/>
        </p:nvPicPr>
        <p:blipFill>
          <a:blip r:embed="rId2"/>
          <a:stretch>
            <a:fillRect/>
          </a:stretch>
        </p:blipFill>
        <p:spPr>
          <a:xfrm>
            <a:off x="2322285" y="872068"/>
            <a:ext cx="7547429" cy="5113863"/>
          </a:xfrm>
          <a:prstGeom prst="rect">
            <a:avLst/>
          </a:prstGeom>
        </p:spPr>
      </p:pic>
    </p:spTree>
    <p:extLst>
      <p:ext uri="{BB962C8B-B14F-4D97-AF65-F5344CB8AC3E}">
        <p14:creationId xmlns:p14="http://schemas.microsoft.com/office/powerpoint/2010/main" val="564573577"/>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a:extLst>
            <a:ext uri="{FF2B5EF4-FFF2-40B4-BE49-F238E27FC236}">
              <a16:creationId xmlns:a16="http://schemas.microsoft.com/office/drawing/2014/main" id="{12686EB3-9C9A-CD5B-2A8E-9D41A5EAA2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DE28C3-5CF5-A2D4-AE07-52A97E467D1B}"/>
              </a:ext>
            </a:extLst>
          </p:cNvPr>
          <p:cNvSpPr>
            <a:spLocks noGrp="1"/>
          </p:cNvSpPr>
          <p:nvPr>
            <p:ph type="title"/>
          </p:nvPr>
        </p:nvSpPr>
        <p:spPr/>
        <p:txBody>
          <a:bodyPr/>
          <a:lstStyle/>
          <a:p>
            <a:r>
              <a:rPr lang="en-US"/>
              <a:t>Between 2005-2015...</a:t>
            </a:r>
          </a:p>
        </p:txBody>
      </p:sp>
      <p:pic>
        <p:nvPicPr>
          <p:cNvPr id="4" name="Picture 3" descr="A graph with blue and orange bars&#10;&#10;AI-generated content may be incorrect.">
            <a:extLst>
              <a:ext uri="{FF2B5EF4-FFF2-40B4-BE49-F238E27FC236}">
                <a16:creationId xmlns:a16="http://schemas.microsoft.com/office/drawing/2014/main" id="{31586A15-B0A1-ECA2-B5AF-9C2875115DF9}"/>
              </a:ext>
            </a:extLst>
          </p:cNvPr>
          <p:cNvPicPr>
            <a:picLocks noChangeAspect="1"/>
          </p:cNvPicPr>
          <p:nvPr/>
        </p:nvPicPr>
        <p:blipFill>
          <a:blip r:embed="rId2"/>
          <a:stretch>
            <a:fillRect/>
          </a:stretch>
        </p:blipFill>
        <p:spPr>
          <a:xfrm>
            <a:off x="2518322" y="1563934"/>
            <a:ext cx="7704573" cy="4677360"/>
          </a:xfrm>
          <a:prstGeom prst="rect">
            <a:avLst/>
          </a:prstGeom>
        </p:spPr>
      </p:pic>
    </p:spTree>
    <p:extLst>
      <p:ext uri="{BB962C8B-B14F-4D97-AF65-F5344CB8AC3E}">
        <p14:creationId xmlns:p14="http://schemas.microsoft.com/office/powerpoint/2010/main" val="1398530047"/>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a:extLst>
            <a:ext uri="{FF2B5EF4-FFF2-40B4-BE49-F238E27FC236}">
              <a16:creationId xmlns:a16="http://schemas.microsoft.com/office/drawing/2014/main" id="{293F45F0-39DC-8026-B382-E2FEEC819D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04B774-842B-4C8B-A7AC-5E00BA4DAB0B}"/>
              </a:ext>
            </a:extLst>
          </p:cNvPr>
          <p:cNvSpPr>
            <a:spLocks noGrp="1"/>
          </p:cNvSpPr>
          <p:nvPr>
            <p:ph type="title"/>
          </p:nvPr>
        </p:nvSpPr>
        <p:spPr/>
        <p:txBody>
          <a:bodyPr/>
          <a:lstStyle/>
          <a:p>
            <a:r>
              <a:rPr lang="en-US"/>
              <a:t>Between 2005-2015...</a:t>
            </a:r>
          </a:p>
        </p:txBody>
      </p:sp>
      <p:pic>
        <p:nvPicPr>
          <p:cNvPr id="5" name="Picture 4" descr="A blue and orange pie chart&#10;&#10;AI-generated content may be incorrect.">
            <a:extLst>
              <a:ext uri="{FF2B5EF4-FFF2-40B4-BE49-F238E27FC236}">
                <a16:creationId xmlns:a16="http://schemas.microsoft.com/office/drawing/2014/main" id="{67C3BEA2-41BA-1EF9-321A-9765376BFDF6}"/>
              </a:ext>
            </a:extLst>
          </p:cNvPr>
          <p:cNvPicPr>
            <a:picLocks noChangeAspect="1"/>
          </p:cNvPicPr>
          <p:nvPr/>
        </p:nvPicPr>
        <p:blipFill>
          <a:blip r:embed="rId2"/>
          <a:stretch>
            <a:fillRect/>
          </a:stretch>
        </p:blipFill>
        <p:spPr>
          <a:xfrm>
            <a:off x="5788918" y="2149745"/>
            <a:ext cx="5299125" cy="3559207"/>
          </a:xfrm>
          <a:prstGeom prst="rect">
            <a:avLst/>
          </a:prstGeom>
        </p:spPr>
      </p:pic>
      <p:pic>
        <p:nvPicPr>
          <p:cNvPr id="6" name="Picture 5" descr="A graph of a pie chart&#10;&#10;AI-generated content may be incorrect.">
            <a:extLst>
              <a:ext uri="{FF2B5EF4-FFF2-40B4-BE49-F238E27FC236}">
                <a16:creationId xmlns:a16="http://schemas.microsoft.com/office/drawing/2014/main" id="{181E6D96-B73E-406A-590D-E77144FFDE66}"/>
              </a:ext>
            </a:extLst>
          </p:cNvPr>
          <p:cNvPicPr>
            <a:picLocks noChangeAspect="1"/>
          </p:cNvPicPr>
          <p:nvPr/>
        </p:nvPicPr>
        <p:blipFill>
          <a:blip r:embed="rId3"/>
          <a:stretch>
            <a:fillRect/>
          </a:stretch>
        </p:blipFill>
        <p:spPr>
          <a:xfrm>
            <a:off x="310729" y="2269960"/>
            <a:ext cx="5176076" cy="3337393"/>
          </a:xfrm>
          <a:prstGeom prst="rect">
            <a:avLst/>
          </a:prstGeom>
        </p:spPr>
      </p:pic>
    </p:spTree>
    <p:extLst>
      <p:ext uri="{BB962C8B-B14F-4D97-AF65-F5344CB8AC3E}">
        <p14:creationId xmlns:p14="http://schemas.microsoft.com/office/powerpoint/2010/main" val="3011441449"/>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pic>
        <p:nvPicPr>
          <p:cNvPr id="7" name="Content Placeholder 6" descr="A screenshot of a computer&#10;&#10;AI-generated content may be incorrect.">
            <a:extLst>
              <a:ext uri="{FF2B5EF4-FFF2-40B4-BE49-F238E27FC236}">
                <a16:creationId xmlns:a16="http://schemas.microsoft.com/office/drawing/2014/main" id="{C8A0B22D-488D-8D31-BDAF-5E92701C289B}"/>
              </a:ext>
            </a:extLst>
          </p:cNvPr>
          <p:cNvPicPr>
            <a:picLocks noGrp="1" noChangeAspect="1"/>
          </p:cNvPicPr>
          <p:nvPr>
            <p:ph idx="1"/>
          </p:nvPr>
        </p:nvPicPr>
        <p:blipFill>
          <a:blip r:embed="rId2"/>
          <a:srcRect t="5007" r="-641" b="8440"/>
          <a:stretch>
            <a:fillRect/>
          </a:stretch>
        </p:blipFill>
        <p:spPr>
          <a:xfrm>
            <a:off x="6861810" y="2303780"/>
            <a:ext cx="4791322" cy="3437791"/>
          </a:xfrm>
          <a:prstGeom prst="rect">
            <a:avLst/>
          </a:prstGeom>
        </p:spPr>
      </p:pic>
      <p:sp>
        <p:nvSpPr>
          <p:cNvPr id="9" name="Title 1">
            <a:extLst>
              <a:ext uri="{FF2B5EF4-FFF2-40B4-BE49-F238E27FC236}">
                <a16:creationId xmlns:a16="http://schemas.microsoft.com/office/drawing/2014/main" id="{4D3E9A9F-A4D7-618C-0DA9-0A3A85FB2EE1}"/>
              </a:ext>
            </a:extLst>
          </p:cNvPr>
          <p:cNvSpPr txBox="1">
            <a:spLocks/>
          </p:cNvSpPr>
          <p:nvPr/>
        </p:nvSpPr>
        <p:spPr>
          <a:xfrm>
            <a:off x="838200" y="-9207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t>Unicorn</a:t>
            </a:r>
          </a:p>
        </p:txBody>
      </p:sp>
      <p:sp>
        <p:nvSpPr>
          <p:cNvPr id="12" name="TextBox 11">
            <a:extLst>
              <a:ext uri="{FF2B5EF4-FFF2-40B4-BE49-F238E27FC236}">
                <a16:creationId xmlns:a16="http://schemas.microsoft.com/office/drawing/2014/main" id="{AA75B08C-5313-0569-1824-A43E15FFB674}"/>
              </a:ext>
            </a:extLst>
          </p:cNvPr>
          <p:cNvSpPr txBox="1"/>
          <p:nvPr/>
        </p:nvSpPr>
        <p:spPr>
          <a:xfrm>
            <a:off x="2550160" y="863600"/>
            <a:ext cx="709168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The top 10 companies with the highest funding – </a:t>
            </a:r>
            <a:r>
              <a:rPr lang="en-US" b="1"/>
              <a:t>highlighted in green</a:t>
            </a:r>
          </a:p>
        </p:txBody>
      </p:sp>
      <p:sp>
        <p:nvSpPr>
          <p:cNvPr id="14" name="Oval 13">
            <a:extLst>
              <a:ext uri="{FF2B5EF4-FFF2-40B4-BE49-F238E27FC236}">
                <a16:creationId xmlns:a16="http://schemas.microsoft.com/office/drawing/2014/main" id="{2B73D3FF-12EB-2BE4-E25F-3624FE4D3D70}"/>
              </a:ext>
            </a:extLst>
          </p:cNvPr>
          <p:cNvSpPr/>
          <p:nvPr/>
        </p:nvSpPr>
        <p:spPr>
          <a:xfrm>
            <a:off x="7000240" y="3027680"/>
            <a:ext cx="1513840" cy="31496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361E93D-7EA0-7D0D-47B5-47F43D0990DD}"/>
              </a:ext>
            </a:extLst>
          </p:cNvPr>
          <p:cNvSpPr/>
          <p:nvPr/>
        </p:nvSpPr>
        <p:spPr>
          <a:xfrm>
            <a:off x="7000239" y="3637279"/>
            <a:ext cx="1513840" cy="31496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763A4E3A-07AE-0357-BF4A-51858CBE0DE8}"/>
              </a:ext>
            </a:extLst>
          </p:cNvPr>
          <p:cNvSpPr/>
          <p:nvPr/>
        </p:nvSpPr>
        <p:spPr>
          <a:xfrm>
            <a:off x="7000239" y="4551679"/>
            <a:ext cx="1513840" cy="31496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306B07C-C412-88B7-AB38-731CE2B1CEB9}"/>
              </a:ext>
            </a:extLst>
          </p:cNvPr>
          <p:cNvSpPr/>
          <p:nvPr/>
        </p:nvSpPr>
        <p:spPr>
          <a:xfrm>
            <a:off x="7000239" y="4866639"/>
            <a:ext cx="1513840" cy="31496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52A3BD7D-10C7-C446-FFE2-03A009E6C238}"/>
              </a:ext>
            </a:extLst>
          </p:cNvPr>
          <p:cNvSpPr/>
          <p:nvPr/>
        </p:nvSpPr>
        <p:spPr>
          <a:xfrm>
            <a:off x="7000239" y="5181599"/>
            <a:ext cx="1513840" cy="31496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6D786172-A0AE-5067-E419-985E1CCC0F22}"/>
              </a:ext>
            </a:extLst>
          </p:cNvPr>
          <p:cNvCxnSpPr/>
          <p:nvPr/>
        </p:nvCxnSpPr>
        <p:spPr>
          <a:xfrm>
            <a:off x="4937760" y="3129280"/>
            <a:ext cx="2052320" cy="111760"/>
          </a:xfrm>
          <a:prstGeom prst="straightConnector1">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964C352B-4E75-6346-245F-85C9FAAC44C7}"/>
              </a:ext>
            </a:extLst>
          </p:cNvPr>
          <p:cNvCxnSpPr>
            <a:cxnSpLocks/>
          </p:cNvCxnSpPr>
          <p:nvPr/>
        </p:nvCxnSpPr>
        <p:spPr>
          <a:xfrm>
            <a:off x="4958080" y="3281679"/>
            <a:ext cx="2011680" cy="497840"/>
          </a:xfrm>
          <a:prstGeom prst="straightConnector1">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41A1E612-E6DE-E8EC-DB65-5C765FF8608A}"/>
              </a:ext>
            </a:extLst>
          </p:cNvPr>
          <p:cNvCxnSpPr/>
          <p:nvPr/>
        </p:nvCxnSpPr>
        <p:spPr>
          <a:xfrm>
            <a:off x="4988560" y="3342640"/>
            <a:ext cx="2001520" cy="1351280"/>
          </a:xfrm>
          <a:prstGeom prst="straightConnector1">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90C3277A-66AF-DEBC-8B07-B3580A887F75}"/>
              </a:ext>
            </a:extLst>
          </p:cNvPr>
          <p:cNvCxnSpPr/>
          <p:nvPr/>
        </p:nvCxnSpPr>
        <p:spPr>
          <a:xfrm>
            <a:off x="4874818" y="3423027"/>
            <a:ext cx="2113280" cy="1595120"/>
          </a:xfrm>
          <a:prstGeom prst="straightConnector1">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49186264-D841-F82E-C5F0-19D766E3D03A}"/>
              </a:ext>
            </a:extLst>
          </p:cNvPr>
          <p:cNvCxnSpPr/>
          <p:nvPr/>
        </p:nvCxnSpPr>
        <p:spPr>
          <a:xfrm>
            <a:off x="4795520" y="3647439"/>
            <a:ext cx="2184400" cy="1696720"/>
          </a:xfrm>
          <a:prstGeom prst="straightConnector1">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9" name="Oval 28">
            <a:extLst>
              <a:ext uri="{FF2B5EF4-FFF2-40B4-BE49-F238E27FC236}">
                <a16:creationId xmlns:a16="http://schemas.microsoft.com/office/drawing/2014/main" id="{EFB5AA34-0A72-BCB2-F280-81A9B7533C58}"/>
              </a:ext>
            </a:extLst>
          </p:cNvPr>
          <p:cNvSpPr/>
          <p:nvPr/>
        </p:nvSpPr>
        <p:spPr>
          <a:xfrm>
            <a:off x="3962400" y="2733040"/>
            <a:ext cx="1097280" cy="1056640"/>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DCCEFF77-068A-ADB1-B193-30E17655423B}"/>
              </a:ext>
            </a:extLst>
          </p:cNvPr>
          <p:cNvSpPr/>
          <p:nvPr/>
        </p:nvSpPr>
        <p:spPr>
          <a:xfrm>
            <a:off x="6990079" y="3322319"/>
            <a:ext cx="1513840" cy="31496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3BB04643-0A1B-6F08-CF17-E6640208543C}"/>
              </a:ext>
            </a:extLst>
          </p:cNvPr>
          <p:cNvSpPr/>
          <p:nvPr/>
        </p:nvSpPr>
        <p:spPr>
          <a:xfrm>
            <a:off x="7000238" y="3901438"/>
            <a:ext cx="1513840" cy="31496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9DF270EE-8017-51E2-A73D-4B2740D5BC44}"/>
              </a:ext>
            </a:extLst>
          </p:cNvPr>
          <p:cNvSpPr/>
          <p:nvPr/>
        </p:nvSpPr>
        <p:spPr>
          <a:xfrm>
            <a:off x="7040878" y="4216398"/>
            <a:ext cx="1513840" cy="31496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762FEABF-D15D-BAF8-03B8-56637A2188CF}"/>
              </a:ext>
            </a:extLst>
          </p:cNvPr>
          <p:cNvSpPr/>
          <p:nvPr/>
        </p:nvSpPr>
        <p:spPr>
          <a:xfrm>
            <a:off x="6990078" y="5425438"/>
            <a:ext cx="1513840" cy="31496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Arrow Connector 34">
            <a:extLst>
              <a:ext uri="{FF2B5EF4-FFF2-40B4-BE49-F238E27FC236}">
                <a16:creationId xmlns:a16="http://schemas.microsoft.com/office/drawing/2014/main" id="{3876792D-0676-7337-9A6B-8188E55ED79E}"/>
              </a:ext>
            </a:extLst>
          </p:cNvPr>
          <p:cNvCxnSpPr/>
          <p:nvPr/>
        </p:nvCxnSpPr>
        <p:spPr>
          <a:xfrm flipV="1">
            <a:off x="4988560" y="3454400"/>
            <a:ext cx="2001520" cy="1320800"/>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45B3AE5D-C936-A09F-3A4B-63EA7F0E7D37}"/>
              </a:ext>
            </a:extLst>
          </p:cNvPr>
          <p:cNvCxnSpPr>
            <a:cxnSpLocks/>
          </p:cNvCxnSpPr>
          <p:nvPr/>
        </p:nvCxnSpPr>
        <p:spPr>
          <a:xfrm flipV="1">
            <a:off x="5100320" y="4084319"/>
            <a:ext cx="1920240" cy="802640"/>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CA953EBF-EC60-736A-C6E6-BA36C4D2FAF4}"/>
              </a:ext>
            </a:extLst>
          </p:cNvPr>
          <p:cNvCxnSpPr>
            <a:cxnSpLocks/>
          </p:cNvCxnSpPr>
          <p:nvPr/>
        </p:nvCxnSpPr>
        <p:spPr>
          <a:xfrm flipV="1">
            <a:off x="5090160" y="4409438"/>
            <a:ext cx="1940560" cy="589280"/>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7933200A-016F-ABF0-A1EF-18D88C6C4FEE}"/>
              </a:ext>
            </a:extLst>
          </p:cNvPr>
          <p:cNvCxnSpPr>
            <a:cxnSpLocks/>
          </p:cNvCxnSpPr>
          <p:nvPr/>
        </p:nvCxnSpPr>
        <p:spPr>
          <a:xfrm>
            <a:off x="4947919" y="5201917"/>
            <a:ext cx="2032000" cy="355600"/>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40" name="Oval 39">
            <a:extLst>
              <a:ext uri="{FF2B5EF4-FFF2-40B4-BE49-F238E27FC236}">
                <a16:creationId xmlns:a16="http://schemas.microsoft.com/office/drawing/2014/main" id="{D14534DB-912E-F893-7FBD-FE6C79E53CBE}"/>
              </a:ext>
            </a:extLst>
          </p:cNvPr>
          <p:cNvSpPr/>
          <p:nvPr/>
        </p:nvSpPr>
        <p:spPr>
          <a:xfrm>
            <a:off x="3962400" y="4328160"/>
            <a:ext cx="1097280" cy="1056640"/>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E68D4B69-51CC-B0EA-2278-E294504DDE6A}"/>
              </a:ext>
            </a:extLst>
          </p:cNvPr>
          <p:cNvSpPr txBox="1"/>
          <p:nvPr/>
        </p:nvSpPr>
        <p:spPr>
          <a:xfrm>
            <a:off x="4216400" y="2865119"/>
            <a:ext cx="599440"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400"/>
              <a:t>6</a:t>
            </a:r>
          </a:p>
        </p:txBody>
      </p:sp>
      <p:sp>
        <p:nvSpPr>
          <p:cNvPr id="42" name="TextBox 41">
            <a:extLst>
              <a:ext uri="{FF2B5EF4-FFF2-40B4-BE49-F238E27FC236}">
                <a16:creationId xmlns:a16="http://schemas.microsoft.com/office/drawing/2014/main" id="{5B69C6A3-38DD-89C9-9F47-CD4FCC98A1CD}"/>
              </a:ext>
            </a:extLst>
          </p:cNvPr>
          <p:cNvSpPr txBox="1"/>
          <p:nvPr/>
        </p:nvSpPr>
        <p:spPr>
          <a:xfrm>
            <a:off x="4216399" y="4409438"/>
            <a:ext cx="599440"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400" dirty="0">
                <a:solidFill>
                  <a:srgbClr val="C00000"/>
                </a:solidFill>
              </a:rPr>
              <a:t>4</a:t>
            </a:r>
          </a:p>
        </p:txBody>
      </p:sp>
      <p:sp>
        <p:nvSpPr>
          <p:cNvPr id="2" name="TextBox 1">
            <a:extLst>
              <a:ext uri="{FF2B5EF4-FFF2-40B4-BE49-F238E27FC236}">
                <a16:creationId xmlns:a16="http://schemas.microsoft.com/office/drawing/2014/main" id="{51EE8751-DD8F-7162-E95E-D0F2C427E717}"/>
              </a:ext>
            </a:extLst>
          </p:cNvPr>
          <p:cNvSpPr txBox="1"/>
          <p:nvPr/>
        </p:nvSpPr>
        <p:spPr>
          <a:xfrm>
            <a:off x="586015" y="2616594"/>
            <a:ext cx="2928257" cy="3693319"/>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Although, B2C has higher finding than B2B businesses, due to our previous data, we noticed that B2C businesses have had more deals. So, all we need to do is create deals with bigger B2B businesses. So, all our boss Sarah needs to do is invest in bigger B2B businesses as there are a vast amount of them</a:t>
            </a:r>
          </a:p>
        </p:txBody>
      </p:sp>
    </p:spTree>
    <p:extLst>
      <p:ext uri="{BB962C8B-B14F-4D97-AF65-F5344CB8AC3E}">
        <p14:creationId xmlns:p14="http://schemas.microsoft.com/office/powerpoint/2010/main" val="4020330372"/>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C9BBD66-39ED-7152-1E14-3872EC647480}"/>
              </a:ext>
            </a:extLst>
          </p:cNvPr>
          <p:cNvSpPr txBox="1"/>
          <p:nvPr/>
        </p:nvSpPr>
        <p:spPr>
          <a:xfrm>
            <a:off x="-3732" y="1291"/>
            <a:ext cx="12201588" cy="6849113"/>
          </a:xfrm>
          <a:prstGeom prst="rect">
            <a:avLst/>
          </a:prstGeom>
          <a:solidFill>
            <a:schemeClr val="accent1">
              <a:lumMod val="40000"/>
              <a:lumOff val="60000"/>
            </a:schemeClr>
          </a:solidFill>
          <a:ln>
            <a:solidFill>
              <a:schemeClr val="accent6">
                <a:lumMod val="40000"/>
                <a:lumOff val="6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dirty="0"/>
          </a:p>
        </p:txBody>
      </p:sp>
      <p:sp>
        <p:nvSpPr>
          <p:cNvPr id="2" name="Title 1">
            <a:extLst>
              <a:ext uri="{FF2B5EF4-FFF2-40B4-BE49-F238E27FC236}">
                <a16:creationId xmlns:a16="http://schemas.microsoft.com/office/drawing/2014/main" id="{64A17CF1-1615-B44C-B1A7-BBD94F198264}"/>
              </a:ext>
            </a:extLst>
          </p:cNvPr>
          <p:cNvSpPr>
            <a:spLocks noGrp="1"/>
          </p:cNvSpPr>
          <p:nvPr>
            <p:ph type="title"/>
          </p:nvPr>
        </p:nvSpPr>
        <p:spPr/>
        <p:txBody>
          <a:bodyPr/>
          <a:lstStyle/>
          <a:p>
            <a:r>
              <a:rPr lang="en-US" dirty="0"/>
              <a:t>Recommendation</a:t>
            </a:r>
          </a:p>
        </p:txBody>
      </p:sp>
      <p:sp>
        <p:nvSpPr>
          <p:cNvPr id="3" name="Content Placeholder 2">
            <a:extLst>
              <a:ext uri="{FF2B5EF4-FFF2-40B4-BE49-F238E27FC236}">
                <a16:creationId xmlns:a16="http://schemas.microsoft.com/office/drawing/2014/main" id="{170A7D96-048B-A5A4-2399-17739A7BDDA8}"/>
              </a:ext>
            </a:extLst>
          </p:cNvPr>
          <p:cNvSpPr>
            <a:spLocks noGrp="1"/>
          </p:cNvSpPr>
          <p:nvPr>
            <p:ph idx="1"/>
          </p:nvPr>
        </p:nvSpPr>
        <p:spPr/>
        <p:txBody>
          <a:bodyPr vert="horz" lIns="91440" tIns="45720" rIns="91440" bIns="45720" rtlCol="0" anchor="t">
            <a:normAutofit/>
          </a:bodyPr>
          <a:lstStyle/>
          <a:p>
            <a:pPr marL="0" indent="0" algn="ctr">
              <a:buNone/>
            </a:pPr>
            <a:r>
              <a:rPr lang="en-US" dirty="0"/>
              <a:t>Our recommendation is to </a:t>
            </a:r>
            <a:r>
              <a:rPr lang="en-US" b="1"/>
              <a:t>NOT</a:t>
            </a:r>
            <a:r>
              <a:rPr lang="en-US" dirty="0"/>
              <a:t> change the funding to fund B2C companies and instead keep it the way it is: allocate the funds for B2B companies.</a:t>
            </a:r>
          </a:p>
          <a:p>
            <a:pPr marL="0" indent="0" algn="ctr">
              <a:buNone/>
            </a:pPr>
            <a:endParaRPr lang="en-US" dirty="0"/>
          </a:p>
          <a:p>
            <a:pPr marL="0" indent="0" algn="ctr">
              <a:buNone/>
            </a:pPr>
            <a:endParaRPr lang="en-US" dirty="0"/>
          </a:p>
        </p:txBody>
      </p:sp>
      <p:pic>
        <p:nvPicPr>
          <p:cNvPr id="6" name="Picture 5" descr="A blue arrow with two men in suits&#10;&#10;AI-generated content may be incorrect.">
            <a:extLst>
              <a:ext uri="{FF2B5EF4-FFF2-40B4-BE49-F238E27FC236}">
                <a16:creationId xmlns:a16="http://schemas.microsoft.com/office/drawing/2014/main" id="{11650B97-DA41-84AA-4B44-1D6DFCBA1684}"/>
              </a:ext>
            </a:extLst>
          </p:cNvPr>
          <p:cNvPicPr>
            <a:picLocks noChangeAspect="1"/>
          </p:cNvPicPr>
          <p:nvPr/>
        </p:nvPicPr>
        <p:blipFill>
          <a:blip r:embed="rId2"/>
          <a:stretch>
            <a:fillRect/>
          </a:stretch>
        </p:blipFill>
        <p:spPr>
          <a:xfrm>
            <a:off x="4005953" y="2671213"/>
            <a:ext cx="4180686" cy="4186168"/>
          </a:xfrm>
          <a:prstGeom prst="rect">
            <a:avLst/>
          </a:prstGeom>
        </p:spPr>
      </p:pic>
    </p:spTree>
    <p:extLst>
      <p:ext uri="{BB962C8B-B14F-4D97-AF65-F5344CB8AC3E}">
        <p14:creationId xmlns:p14="http://schemas.microsoft.com/office/powerpoint/2010/main" val="178682617"/>
      </p:ext>
    </p:extLst>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8</TotalTime>
  <Words>312</Words>
  <Application>Microsoft Office PowerPoint</Application>
  <PresentationFormat>Widescreen</PresentationFormat>
  <Paragraphs>43</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Calibri</vt:lpstr>
      <vt:lpstr>office theme</vt:lpstr>
      <vt:lpstr>PowerPoint Presentation</vt:lpstr>
      <vt:lpstr>Cascadia Ventures</vt:lpstr>
      <vt:lpstr>The Data Reality</vt:lpstr>
      <vt:lpstr>Cleaning!</vt:lpstr>
      <vt:lpstr>PowerPoint Presentation</vt:lpstr>
      <vt:lpstr>Between 2005-2015...</vt:lpstr>
      <vt:lpstr>Between 2005-2015...</vt:lpstr>
      <vt:lpstr>PowerPoint Presentation</vt:lpstr>
      <vt:lpstr>Recommendation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Dharini B</dc:creator>
  <cp:lastModifiedBy>Dharini B</cp:lastModifiedBy>
  <cp:revision>75</cp:revision>
  <dcterms:created xsi:type="dcterms:W3CDTF">2026-01-17T22:49:55Z</dcterms:created>
  <dcterms:modified xsi:type="dcterms:W3CDTF">2026-01-18T19:16:56Z</dcterms:modified>
</cp:coreProperties>
</file>